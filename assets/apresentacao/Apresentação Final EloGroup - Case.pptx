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aleway SemiBold"/>
      <p:regular r:id="rId25"/>
      <p:bold r:id="rId26"/>
      <p:italic r:id="rId27"/>
      <p:boldItalic r:id="rId28"/>
    </p:embeddedFont>
    <p:embeddedFont>
      <p:font typeface="DM Sans Medium"/>
      <p:regular r:id="rId29"/>
      <p:bold r:id="rId30"/>
      <p:italic r:id="rId31"/>
      <p:boldItalic r:id="rId32"/>
    </p:embeddedFont>
    <p:embeddedFont>
      <p:font typeface="Raleway ExtraBold"/>
      <p:bold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Raleway Medium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bold.fntdata"/><Relationship Id="rId20" Type="http://schemas.openxmlformats.org/officeDocument/2006/relationships/slide" Target="slides/slide15.xml"/><Relationship Id="rId42" Type="http://schemas.openxmlformats.org/officeDocument/2006/relationships/font" Target="fonts/RalewayMedium-boldItalic.fntdata"/><Relationship Id="rId41" Type="http://schemas.openxmlformats.org/officeDocument/2006/relationships/font" Target="fonts/RalewayMedium-italic.fntdata"/><Relationship Id="rId22" Type="http://schemas.openxmlformats.org/officeDocument/2006/relationships/font" Target="fonts/Raleway-bold.fntdata"/><Relationship Id="rId44" Type="http://schemas.openxmlformats.org/officeDocument/2006/relationships/font" Target="fonts/DMSans-bold.fntdata"/><Relationship Id="rId21" Type="http://schemas.openxmlformats.org/officeDocument/2006/relationships/font" Target="fonts/Raleway-regular.fntdata"/><Relationship Id="rId43" Type="http://schemas.openxmlformats.org/officeDocument/2006/relationships/font" Target="fonts/DMSans-regular.fntdata"/><Relationship Id="rId24" Type="http://schemas.openxmlformats.org/officeDocument/2006/relationships/font" Target="fonts/Raleway-boldItalic.fntdata"/><Relationship Id="rId46" Type="http://schemas.openxmlformats.org/officeDocument/2006/relationships/font" Target="fonts/DMSans-boldItalic.fntdata"/><Relationship Id="rId23" Type="http://schemas.openxmlformats.org/officeDocument/2006/relationships/font" Target="fonts/Raleway-italic.fntdata"/><Relationship Id="rId45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SemiBold-bold.fntdata"/><Relationship Id="rId25" Type="http://schemas.openxmlformats.org/officeDocument/2006/relationships/font" Target="fonts/RalewaySemiBold-regular.fntdata"/><Relationship Id="rId28" Type="http://schemas.openxmlformats.org/officeDocument/2006/relationships/font" Target="fonts/RalewaySemiBold-boldItalic.fntdata"/><Relationship Id="rId27" Type="http://schemas.openxmlformats.org/officeDocument/2006/relationships/font" Target="fonts/Raleway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Medium-italic.fntdata"/><Relationship Id="rId30" Type="http://schemas.openxmlformats.org/officeDocument/2006/relationships/font" Target="fonts/DMSansMedium-bold.fntdata"/><Relationship Id="rId11" Type="http://schemas.openxmlformats.org/officeDocument/2006/relationships/slide" Target="slides/slide6.xml"/><Relationship Id="rId33" Type="http://schemas.openxmlformats.org/officeDocument/2006/relationships/font" Target="fonts/RalewayExtraBold-bold.fntdata"/><Relationship Id="rId10" Type="http://schemas.openxmlformats.org/officeDocument/2006/relationships/slide" Target="slides/slide5.xml"/><Relationship Id="rId32" Type="http://schemas.openxmlformats.org/officeDocument/2006/relationships/font" Target="fonts/DMSans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schemas.openxmlformats.org/officeDocument/2006/relationships/font" Target="fonts/RalewayMedium-regular.fnt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50" name="Google Shape;50;p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5a00436d8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b5a00436d8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60" name="Google Shape;60;g3b5a00436d8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74" name="Google Shape;74;p1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a00436d8_0_4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b5a00436d8_0_4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88" name="Google Shape;88;g3b5a00436d8_0_4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5a00436d8_0_7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5a00436d8_0_7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99" name="Google Shape;99;g3b5a00436d8_0_7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5bc546bdb_0_7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5bc546bdb_0_7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11" name="Google Shape;111;g3b5bc546bdb_0_7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5bc546bdb_0_8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5bc546bdb_0_8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21" name="Google Shape;121;g3b5bc546bdb_0_8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5a00436d8_0_8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5a00436d8_0_8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35" name="Google Shape;135;g3b5a00436d8_0_8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5a00436d8_0_10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b5a00436d8_0_10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47" name="Google Shape;147;g3b5a00436d8_0_10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5a00436d8_0_14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b5a00436d8_0_14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61" name="Google Shape;161;g3b5a00436d8_0_14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5a00436d8_0_1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5a00436d8_0_1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74" name="Google Shape;174;g3b5a00436d8_0_1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5a00436d8_0_12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b5a00436d8_0_12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190" name="Google Shape;190;g3b5a00436d8_0_12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5a00436d8_0_13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b5a00436d8_0_13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205" name="Google Shape;205;g3b5a00436d8_0_13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5bc546bdb_0_3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b5bc546bdb_0_3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220" name="Google Shape;220;g3b5bc546bdb_0_3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5a00436d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5a00436d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em Branco">
  <p:cSld name="CUSTOM_1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/>
        </p:nvSpPr>
        <p:spPr>
          <a:xfrm rot="-5400000">
            <a:off x="992100" y="396949"/>
            <a:ext cx="52500" cy="375900"/>
          </a:xfrm>
          <a:prstGeom prst="rect">
            <a:avLst/>
          </a:prstGeom>
          <a:solidFill>
            <a:srgbClr val="0057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"/>
          <p:cNvSpPr txBox="1"/>
          <p:nvPr>
            <p:ph type="title"/>
          </p:nvPr>
        </p:nvSpPr>
        <p:spPr>
          <a:xfrm>
            <a:off x="729450" y="692725"/>
            <a:ext cx="5049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2" type="title"/>
          </p:nvPr>
        </p:nvSpPr>
        <p:spPr>
          <a:xfrm>
            <a:off x="7012200" y="658725"/>
            <a:ext cx="6351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1400"/>
              <a:buFont typeface="Raleway ExtraBold"/>
              <a:buChar char="●"/>
              <a:defRPr b="0" i="0" sz="1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●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●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2" name="Google Shape;12;p3"/>
          <p:cNvSpPr/>
          <p:nvPr/>
        </p:nvSpPr>
        <p:spPr>
          <a:xfrm>
            <a:off x="7636800" y="814800"/>
            <a:ext cx="10500" cy="22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434343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7751150" y="812750"/>
            <a:ext cx="888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Raleway Medium"/>
              <a:buNone/>
              <a:defRPr b="0" i="0" sz="8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3" type="subTitle"/>
          </p:nvPr>
        </p:nvSpPr>
        <p:spPr>
          <a:xfrm>
            <a:off x="830400" y="1495425"/>
            <a:ext cx="587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1400"/>
              <a:buFont typeface="Raleway"/>
              <a:buNone/>
              <a:defRPr b="1" i="0" sz="1400" u="none" cap="none" strike="noStrike">
                <a:solidFill>
                  <a:srgbClr val="0057D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4" type="body"/>
          </p:nvPr>
        </p:nvSpPr>
        <p:spPr>
          <a:xfrm>
            <a:off x="1146850" y="1981488"/>
            <a:ext cx="7808700" cy="2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-5400000">
            <a:off x="992100" y="396949"/>
            <a:ext cx="52500" cy="375900"/>
          </a:xfrm>
          <a:prstGeom prst="rect">
            <a:avLst/>
          </a:prstGeom>
          <a:solidFill>
            <a:srgbClr val="0057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9450" y="692725"/>
            <a:ext cx="5049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title"/>
          </p:nvPr>
        </p:nvSpPr>
        <p:spPr>
          <a:xfrm>
            <a:off x="7012200" y="658725"/>
            <a:ext cx="6351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1400"/>
              <a:buFont typeface="Raleway ExtraBold"/>
              <a:buChar char="●"/>
              <a:defRPr b="0" i="0" sz="1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●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●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○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2400"/>
              <a:buFont typeface="Raleway ExtraBold"/>
              <a:buChar char="■"/>
              <a:defRPr b="0" i="0" sz="2400" u="none" cap="none" strike="noStrike">
                <a:solidFill>
                  <a:srgbClr val="0057D9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7636800" y="814800"/>
            <a:ext cx="10500" cy="22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434343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7751150" y="812750"/>
            <a:ext cx="888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Raleway Medium"/>
              <a:buNone/>
              <a:defRPr b="0" i="0" sz="8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830400" y="1495425"/>
            <a:ext cx="587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D9"/>
              </a:buClr>
              <a:buSzPts val="1400"/>
              <a:buFont typeface="Raleway"/>
              <a:buNone/>
              <a:defRPr b="1" i="0" sz="1400" u="none" cap="none" strike="noStrike">
                <a:solidFill>
                  <a:srgbClr val="0057D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SemiBold"/>
              <a:buNone/>
              <a:defRPr b="0" i="0" sz="1200" u="none" cap="none" strike="noStrike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4" type="body"/>
          </p:nvPr>
        </p:nvSpPr>
        <p:spPr>
          <a:xfrm>
            <a:off x="1146850" y="1981488"/>
            <a:ext cx="7808700" cy="2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- Light">
  <p:cSld name="DEFAULT">
    <p:bg>
      <p:bgPr>
        <a:solidFill>
          <a:srgbClr val="F3F3F3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000" y="381000"/>
            <a:ext cx="278280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2888" y="381000"/>
            <a:ext cx="300097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1950" y="4637615"/>
            <a:ext cx="780115" cy="152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659275" y="327300"/>
            <a:ext cx="3588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"/>
              <a:buNone/>
              <a:defRPr b="1" i="0" sz="700" u="none" cap="none" strike="noStrike">
                <a:solidFill>
                  <a:srgbClr val="406BCC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title"/>
          </p:nvPr>
        </p:nvSpPr>
        <p:spPr>
          <a:xfrm>
            <a:off x="370450" y="333900"/>
            <a:ext cx="351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b="1" i="0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3" type="title"/>
          </p:nvPr>
        </p:nvSpPr>
        <p:spPr>
          <a:xfrm>
            <a:off x="8476575" y="333900"/>
            <a:ext cx="2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"/>
              <a:buNone/>
              <a:defRPr b="1" i="0" sz="700" u="none" cap="none" strike="noStrike">
                <a:solidFill>
                  <a:srgbClr val="406BCC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6B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- Dark 1">
  <p:cSld name="DEFAULT_1">
    <p:bg>
      <p:bgPr>
        <a:solidFill>
          <a:srgbClr val="F3F3F3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278280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2902" y="381000"/>
            <a:ext cx="300098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1950" y="4637514"/>
            <a:ext cx="771855" cy="15049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474897" y="4340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031A3B"/>
              </a:buClr>
              <a:buSzPts val="700"/>
              <a:buFont typeface="DM Sans Medium"/>
              <a:buNone/>
            </a:pPr>
            <a:r>
              <a:rPr b="0" i="0" lang="pt-BR" sz="700" u="none" cap="none" strike="noStrike">
                <a:solidFill>
                  <a:srgbClr val="031A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8553418" y="434064"/>
            <a:ext cx="1476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764525" y="433400"/>
            <a:ext cx="23304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i="0" lang="pt-BR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Título do Capítulo</a:t>
            </a:r>
            <a:endParaRPr b="1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- Dark 2">
  <p:cSld name="CUSTOM">
    <p:bg>
      <p:bgPr>
        <a:solidFill>
          <a:srgbClr val="19191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000" y="381000"/>
            <a:ext cx="278280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2902" y="381000"/>
            <a:ext cx="300098" cy="196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1950" y="4637514"/>
            <a:ext cx="771855" cy="15049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/>
          <p:nvPr/>
        </p:nvSpPr>
        <p:spPr>
          <a:xfrm>
            <a:off x="474897" y="4340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031A3B"/>
              </a:buClr>
              <a:buSzPts val="700"/>
              <a:buFont typeface="DM Sans Medium"/>
              <a:buNone/>
            </a:pPr>
            <a:r>
              <a:rPr b="0" i="0" lang="pt-BR" sz="700" u="none" cap="none" strike="noStrike">
                <a:solidFill>
                  <a:srgbClr val="031A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8553418" y="434064"/>
            <a:ext cx="1476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764525" y="433400"/>
            <a:ext cx="23304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i="0" lang="pt-BR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Título do Capítulo</a:t>
            </a:r>
            <a:endParaRPr b="1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1113300" y="2919350"/>
            <a:ext cx="1397700" cy="14721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hyperlink" Target="https://github.com/alletsc/elogroup-business-case/blob/main/docs/01-visao-estrategica.m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hyperlink" Target="https://github.com/alletsc/elogroup-business-case/blob/main/docs/01-visao-estrategica.m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hyperlink" Target="https://github.com/alletsc/elogroup-business-case/blob/main/docs/01-visao-estrategica.m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hyperlink" Target="https://github.com/alletsc/elogroup-business-case/blob/main/docs/04-requisitos.m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hyperlink" Target="https://github.com/alletsc/elogroup-business-case/blob/main/docs/02-high-level-design.m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hyperlink" Target="https://github.com/alletsc/elogroup-business-case/blob/main/docs/02-high-level-design.m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Relationship Id="rId6" Type="http://schemas.openxmlformats.org/officeDocument/2006/relationships/image" Target="../media/image25.png"/><Relationship Id="rId7" Type="http://schemas.openxmlformats.org/officeDocument/2006/relationships/hyperlink" Target="https://github.com/alletsc/elogroup-business-case/blob/main/docs/03-prototipos.m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Relationship Id="rId6" Type="http://schemas.openxmlformats.org/officeDocument/2006/relationships/image" Target="../media/image31.png"/><Relationship Id="rId7" Type="http://schemas.openxmlformats.org/officeDocument/2006/relationships/hyperlink" Target="https://github.com/alletsc/elogroup-business-case/blob/main/docs/02-high-level-design.m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hyperlink" Target="https://github.com/alletsc/elogroup-business-case/blob/main/docs/05-planejamento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hyperlink" Target="https://github.com/alletsc/elogroup-business-case/blob/main/docs/02-high-level-design.m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hyperlink" Target="https://github.com/alletsc/elogroup-business-case/blob/main/docs/02-high-level-design.m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hyperlink" Target="https://github.com/alletsc/elogroup-business-c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7836437" y="447000"/>
            <a:ext cx="11079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25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800"/>
              <a:buFont typeface="DM Sans Medium"/>
              <a:buNone/>
            </a:pPr>
            <a:r>
              <a:rPr lang="pt-BR" sz="800">
                <a:solidFill>
                  <a:srgbClr val="406BC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J</a:t>
            </a:r>
            <a:r>
              <a:rPr lang="pt-BR" sz="8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aneiro </a:t>
            </a:r>
            <a:r>
              <a:rPr b="0" i="0" lang="pt-BR" sz="8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de </a:t>
            </a:r>
            <a:r>
              <a:rPr lang="pt-BR" sz="8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2026</a:t>
            </a:r>
            <a:endParaRPr b="0" i="0" sz="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348025" y="2739180"/>
            <a:ext cx="39480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3600"/>
              <a:buFont typeface="DM Sans"/>
              <a:buNone/>
            </a:pPr>
            <a:r>
              <a:rPr b="1" lang="pt-BR" sz="36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Sistema de Gerenciamento de Reembolsos</a:t>
            </a:r>
            <a:endParaRPr b="0" i="0" sz="36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395300" y="4352925"/>
            <a:ext cx="5622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1200"/>
              <a:buFont typeface="DM Sans Medium"/>
              <a:buNone/>
            </a:pPr>
            <a:r>
              <a:rPr lang="pt-BR"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 um processo manual para governança de decisão distribuída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que as cores em preto e cinza" id="55" name="Google Shape;55;p8"/>
          <p:cNvPicPr preferRelativeResize="0"/>
          <p:nvPr/>
        </p:nvPicPr>
        <p:blipFill rotWithShape="1">
          <a:blip r:embed="rId3">
            <a:alphaModFix/>
          </a:blip>
          <a:srcRect b="0" l="36257" r="0" t="0"/>
          <a:stretch/>
        </p:blipFill>
        <p:spPr>
          <a:xfrm>
            <a:off x="6281000" y="1319075"/>
            <a:ext cx="2895974" cy="38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325" y="383675"/>
            <a:ext cx="770800" cy="2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125450" y="319975"/>
            <a:ext cx="8447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 problema não é tecnologia, é governança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125450" y="681925"/>
            <a:ext cx="4795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4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DM Sans Medium"/>
              <a:buNone/>
            </a:pPr>
            <a:r>
              <a:rPr lang="pt-BR" sz="1200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solução não é digitalizar planilhas, é institucionalizar regras.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50" y="5575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/>
          <p:nvPr/>
        </p:nvSpPr>
        <p:spPr>
          <a:xfrm>
            <a:off x="219347" y="10881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503722" y="108825"/>
            <a:ext cx="11202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 PROBLEMA (AS-IS)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50" y="979588"/>
            <a:ext cx="8576051" cy="12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50" y="2362050"/>
            <a:ext cx="5619268" cy="20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750" y="2362050"/>
            <a:ext cx="2857411" cy="209142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7"/>
              </a:rPr>
              <a:t>https://github.com/alletsc/elogroup-business-case/blob/main/docs/01-visao-estrategica.md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48675" y="474850"/>
            <a:ext cx="3631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Impactos Esperados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75" y="5575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242572" y="10881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526945" y="108825"/>
            <a:ext cx="13920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LEITURA</a:t>
            </a: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DO PROBLEMA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750" y="891800"/>
            <a:ext cx="3631653" cy="37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5750" y="1216700"/>
            <a:ext cx="4792325" cy="9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>
            <a:off x="3965750" y="474850"/>
            <a:ext cx="23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Pilares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3965750" y="875200"/>
            <a:ext cx="311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4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DM Sans Medium"/>
              <a:buNone/>
            </a:pPr>
            <a:r>
              <a:rPr lang="pt-BR" sz="1200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Processo vive no sistema, não nas pessoas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6"/>
              </a:rPr>
              <a:t>https://github.com/alletsc/elogroup-business-case/blob/main/docs/01-visao-estrategica.md</a:t>
            </a:r>
            <a:r>
              <a:rPr lang="pt-BR" sz="800"/>
              <a:t> (impactos)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174425" y="407650"/>
            <a:ext cx="54303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Mapeamento AS-IS para TO-BE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75" y="86725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227072" y="139789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511452" y="139800"/>
            <a:ext cx="20862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AS-AS TO-BE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425" y="826100"/>
            <a:ext cx="5546252" cy="36766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5"/>
              </a:rPr>
              <a:t>https://github.com/alletsc/elogroup-business-case/blob/main/docs/01-visao-estrategica.md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/>
          <p:nvPr/>
        </p:nvSpPr>
        <p:spPr>
          <a:xfrm>
            <a:off x="381000" y="800100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Governança por design: regras, gates e trilha de auditoria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381000" y="1162050"/>
            <a:ext cx="7309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4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DM Sans Medium"/>
              <a:buNone/>
            </a:pPr>
            <a:r>
              <a:rPr lang="pt-BR" sz="1200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Nenhum item avança sem evidência, nenhuma decisão sem rastro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/>
          <p:nvPr/>
        </p:nvSpPr>
        <p:spPr>
          <a:xfrm>
            <a:off x="474897" y="4340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759281" y="434075"/>
            <a:ext cx="30984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GOVERNANÇA POR DESIGN + APROVAÇÃO PARALELA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395600"/>
            <a:ext cx="8545951" cy="19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94" y="3528250"/>
            <a:ext cx="3213082" cy="149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381000" y="724775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Escopo MVP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/>
          <p:nvPr/>
        </p:nvSpPr>
        <p:spPr>
          <a:xfrm>
            <a:off x="474897" y="4340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759281" y="434075"/>
            <a:ext cx="30984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ESCOPO</a:t>
            </a: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DA SOLUÇÃO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142950"/>
            <a:ext cx="7032701" cy="37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01475" y="338550"/>
            <a:ext cx="4516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Requisitos Essenciais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75" y="9110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/>
          <p:nvPr/>
        </p:nvSpPr>
        <p:spPr>
          <a:xfrm>
            <a:off x="195372" y="1441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79756" y="144175"/>
            <a:ext cx="30984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REQUISITOS</a:t>
            </a:r>
            <a:endParaRPr b="1" sz="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475" y="1371325"/>
            <a:ext cx="4799450" cy="32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/>
          <p:nvPr/>
        </p:nvSpPr>
        <p:spPr>
          <a:xfrm>
            <a:off x="101475" y="967200"/>
            <a:ext cx="2324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Funcionais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5042975" y="967200"/>
            <a:ext cx="24513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Não-funcionais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2975" y="1371325"/>
            <a:ext cx="3938275" cy="25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6"/>
              </a:rPr>
              <a:t>https://github.com/alletsc/elogroup-business-case/blob/main/docs/04-requisitos.md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117700" y="482600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Abordagem: Monolito Modular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00" y="6350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/>
          <p:nvPr/>
        </p:nvSpPr>
        <p:spPr>
          <a:xfrm>
            <a:off x="211597" y="1165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05051" y="116575"/>
            <a:ext cx="18192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ARQUITETURA GERAL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700" y="865300"/>
            <a:ext cx="5039299" cy="357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6550" y="865300"/>
            <a:ext cx="3632751" cy="27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6"/>
              </a:rPr>
              <a:t>https://github.com/alletsc/elogroup-business-case/blob/main/docs/02-high-level-design.md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381000" y="800100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Componentes Principais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474897" y="434064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59279" y="434075"/>
            <a:ext cx="2463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ARQUITETURA (HIGH LEVEL DESIGN)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29950" y="1164700"/>
            <a:ext cx="358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Frontend (PWA Responsivo)</a:t>
            </a:r>
            <a:endParaRPr b="1" sz="1350">
              <a:solidFill>
                <a:srgbClr val="1F2328"/>
              </a:solidFill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50" y="1593200"/>
            <a:ext cx="3848599" cy="12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4500475" y="1128600"/>
            <a:ext cx="440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Backend (Django + Django REST Framework)</a:t>
            </a:r>
            <a:endParaRPr b="1" sz="195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0473" y="1593206"/>
            <a:ext cx="4100775" cy="30195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6"/>
              </a:rPr>
              <a:t>https://github.com/alletsc/elogroup-business-case/blob/main/docs/02-high-level-design.md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152400" y="529075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Protótipos visuais orientados ao processo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9975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246297" y="163039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30679" y="163050"/>
            <a:ext cx="2463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WIREFRAMES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64900"/>
            <a:ext cx="1916925" cy="3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9150" y="964900"/>
            <a:ext cx="3165574" cy="3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8774" y="964900"/>
            <a:ext cx="3297051" cy="36188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7"/>
              </a:rPr>
              <a:t>https://github.com/alletsc/elogroup-business-case/blob/main/docs/03-prototipos.md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117700" y="490325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Camada de dados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00" y="71225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211597" y="124289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95979" y="124300"/>
            <a:ext cx="2463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STACK TECNOLÓGICA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700" y="1212088"/>
            <a:ext cx="5239327" cy="17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17700" y="844700"/>
            <a:ext cx="6863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PostgreSQL - Camada de Dados Estruturados</a:t>
            </a:r>
            <a:endParaRPr b="1" sz="255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17700" y="3031800"/>
            <a:ext cx="518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Object Storage (Google Cloud Storage)</a:t>
            </a:r>
            <a:endParaRPr/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700" y="3523200"/>
            <a:ext cx="5309676" cy="12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0875" y="2840075"/>
            <a:ext cx="2519225" cy="193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8"/>
          <p:cNvCxnSpPr/>
          <p:nvPr/>
        </p:nvCxnSpPr>
        <p:spPr>
          <a:xfrm flipH="1" rot="10800000">
            <a:off x="5427375" y="3767175"/>
            <a:ext cx="703500" cy="3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18"/>
          <p:cNvSpPr txBox="1"/>
          <p:nvPr/>
        </p:nvSpPr>
        <p:spPr>
          <a:xfrm>
            <a:off x="154850" y="477542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</a:t>
            </a:r>
            <a:r>
              <a:rPr lang="pt-BR" sz="800" u="sng">
                <a:solidFill>
                  <a:schemeClr val="hlink"/>
                </a:solidFill>
                <a:hlinkClick r:id="rId7"/>
              </a:rPr>
              <a:t>https://github.com/alletsc/elogroup-business-case/blob/main/docs/02-high-level-design.md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>
            <a:off x="109950" y="505825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Entrega do MVP em 4 meses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" y="86725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203847" y="139789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88229" y="139800"/>
            <a:ext cx="2463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PLANEJAMENTO</a:t>
            </a:r>
            <a:endParaRPr b="1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50" y="940275"/>
            <a:ext cx="8839204" cy="1342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950" y="2742175"/>
            <a:ext cx="4184250" cy="12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109950" y="2349775"/>
            <a:ext cx="4184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Marcos do Projeto (Milestones)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381825" y="2349775"/>
            <a:ext cx="4184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Cerimônias ágeis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2575" y="2742175"/>
            <a:ext cx="4042913" cy="167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162600" y="473927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 </a:t>
            </a:r>
            <a:r>
              <a:rPr lang="pt-BR" sz="800" u="sng">
                <a:solidFill>
                  <a:schemeClr val="hlink"/>
                </a:solidFill>
                <a:hlinkClick r:id="rId7"/>
              </a:rPr>
              <a:t>https://github.com/alletsc/elogroup-business-case/blob/main/docs/05-planejamento.md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156425" y="411700"/>
            <a:ext cx="868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DM Sans"/>
              <a:buNone/>
            </a:pPr>
            <a:r>
              <a:rPr b="1" lang="pt-BR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Processamento Assíncrono (Filas)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25" y="125475"/>
            <a:ext cx="278281" cy="19661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250322" y="178539"/>
            <a:ext cx="119100" cy="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 Medium"/>
              <a:buNone/>
            </a:pPr>
            <a:r>
              <a:rPr lang="pt-BR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34704" y="178550"/>
            <a:ext cx="2463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rPr b="1" lang="pt-BR" sz="7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FILAS + OBSERVABILIDADE</a:t>
            </a:r>
            <a:endParaRPr b="1" sz="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00"/>
              <a:buFont typeface="DM Sans Medium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25" y="882750"/>
            <a:ext cx="5160801" cy="12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25" y="2439300"/>
            <a:ext cx="3523574" cy="23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45425" y="2120025"/>
            <a:ext cx="518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pt-BR" sz="1350">
                <a:solidFill>
                  <a:srgbClr val="1F2328"/>
                </a:solidFill>
              </a:rPr>
              <a:t>Observabilidade</a:t>
            </a:r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2425" y="2820750"/>
            <a:ext cx="4246301" cy="140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0"/>
          <p:cNvCxnSpPr>
            <a:stCxn id="212" idx="3"/>
            <a:endCxn id="214" idx="1"/>
          </p:cNvCxnSpPr>
          <p:nvPr/>
        </p:nvCxnSpPr>
        <p:spPr>
          <a:xfrm flipH="1" rot="10800000">
            <a:off x="3679999" y="3523900"/>
            <a:ext cx="832500" cy="9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0"/>
          <p:cNvSpPr txBox="1"/>
          <p:nvPr/>
        </p:nvSpPr>
        <p:spPr>
          <a:xfrm>
            <a:off x="156425" y="4798100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</a:t>
            </a:r>
            <a:r>
              <a:rPr lang="pt-BR" sz="800" u="sng">
                <a:solidFill>
                  <a:schemeClr val="hlink"/>
                </a:solidFill>
                <a:hlinkClick r:id="rId7"/>
              </a:rPr>
              <a:t>https://github.com/alletsc/elogroup-business-case/blob/main/docs/02-high-level-design.md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108756" y="397038"/>
            <a:ext cx="89265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68"/>
              <a:buFont typeface="DM Sans"/>
              <a:buNone/>
            </a:pPr>
            <a:r>
              <a:rPr b="1" lang="pt-BR" sz="2467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Deployment</a:t>
            </a:r>
            <a:endParaRPr b="0" i="0" sz="2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81" y="151150"/>
            <a:ext cx="286163" cy="2114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267838" y="208221"/>
            <a:ext cx="1224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DM Sans Medium"/>
              <a:buNone/>
            </a:pPr>
            <a:r>
              <a:rPr lang="pt-BR" sz="719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14</a:t>
            </a:r>
            <a:endParaRPr b="0" i="0" sz="7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36208" y="208233"/>
            <a:ext cx="1590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20"/>
              <a:buFont typeface="DM Sans Medium"/>
              <a:buNone/>
            </a:pPr>
            <a:r>
              <a:rPr b="1" lang="pt-BR" sz="71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DEPLOY + CI/CD</a:t>
            </a:r>
            <a:endParaRPr b="1" sz="71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20"/>
              <a:buFont typeface="DM Sans Medium"/>
              <a:buNone/>
            </a:pPr>
            <a:r>
              <a:rPr b="1" lang="pt-BR" sz="71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71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81" y="814456"/>
            <a:ext cx="3072707" cy="268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206" y="3974429"/>
            <a:ext cx="6537206" cy="83462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7550" y="3558617"/>
            <a:ext cx="30849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4025" lIns="94025" spcFirstLastPara="1" rIns="94025" wrap="square" tIns="94025">
            <a:spAutoFit/>
          </a:bodyPr>
          <a:lstStyle/>
          <a:p>
            <a:pPr indent="0" lvl="0" marL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67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CI/CD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54850" y="4775425"/>
            <a:ext cx="589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Detalhamento:</a:t>
            </a:r>
            <a:r>
              <a:rPr lang="pt-BR" sz="800" u="sng">
                <a:solidFill>
                  <a:schemeClr val="hlink"/>
                </a:solidFill>
                <a:hlinkClick r:id="rId6"/>
              </a:rPr>
              <a:t>https://github.com/alletsc/elogroup-business-case/blob/main/docs/02-high-level-design.md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217506" y="548138"/>
            <a:ext cx="89265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68"/>
              <a:buFont typeface="DM Sans"/>
              <a:buNone/>
            </a:pPr>
            <a:r>
              <a:rPr b="1" lang="pt-BR" sz="2467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Repositório com documentação técnica completa</a:t>
            </a:r>
            <a:endParaRPr b="0" i="0" sz="2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06" y="240300"/>
            <a:ext cx="286163" cy="21146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/>
          <p:nvPr/>
        </p:nvSpPr>
        <p:spPr>
          <a:xfrm>
            <a:off x="314063" y="297371"/>
            <a:ext cx="1224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DM Sans Medium"/>
              <a:buNone/>
            </a:pPr>
            <a:r>
              <a:rPr lang="pt-BR" sz="719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15</a:t>
            </a:r>
            <a:endParaRPr sz="719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51146" y="268725"/>
            <a:ext cx="2333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20"/>
              <a:buFont typeface="DM Sans Medium"/>
              <a:buNone/>
            </a:pPr>
            <a:r>
              <a:rPr b="1" lang="pt-BR" sz="71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DOCUMENTAÇÃO TÉCNICA COMPLETA</a:t>
            </a:r>
            <a:endParaRPr b="1" sz="71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84989"/>
              </a:lnSpc>
              <a:spcBef>
                <a:spcPts val="0"/>
              </a:spcBef>
              <a:spcAft>
                <a:spcPts val="0"/>
              </a:spcAft>
              <a:buClr>
                <a:srgbClr val="406BCC"/>
              </a:buClr>
              <a:buSzPts val="720"/>
              <a:buFont typeface="DM Sans Medium"/>
              <a:buNone/>
            </a:pPr>
            <a:r>
              <a:rPr b="1" lang="pt-BR" sz="71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71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217500" y="1026175"/>
            <a:ext cx="43461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https://github.com/alletsc/elogroup-business-case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planRio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